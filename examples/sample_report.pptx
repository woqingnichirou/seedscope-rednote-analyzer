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SeedScope 竞品分析报告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4546A"/>
                </a:solidFill>
              </a:defRPr>
            </a:pPr>
            <a:r>
              <a:t>Brand A vs Brand B｜在线教育｜近半年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4546A"/>
                </a:solidFill>
              </a:defRPr>
            </a:pPr>
            <a:r>
              <a:t>本报告基于脱敏截图 OCR 与规则/模型标签生成。</a:t>
            </a:r>
          </a:p>
          <a:p>
            <a:pPr>
              <a:spcAft>
                <a:spcPts val="1000"/>
              </a:spcAft>
              <a:defRPr sz="1600">
                <a:solidFill>
                  <a:srgbClr val="44546A"/>
                </a:solidFill>
              </a:defRPr>
            </a:pPr>
            <a:r>
              <a:t>不包含真实品牌素材、真实截图或敏感预算。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546A"/>
                </a:solidFill>
              </a:defRPr>
            </a:pPr>
            <a:r>
              <a:t>SeedScope | Local-first, screenshot-based, brand-safe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4546A"/>
                </a:solidFill>
              </a:defRPr>
            </a:pPr>
            <a:r>
              <a:t>核心结论</a:t>
            </a:r>
          </a:p>
          <a:p>
            <a:pPr>
              <a:spcAft>
                <a:spcPts val="1000"/>
              </a:spcAft>
              <a:defRPr sz="1600">
                <a:solidFill>
                  <a:srgbClr val="44546A"/>
                </a:solidFill>
              </a:defRPr>
            </a:pPr>
            <a:r>
              <a:t>样本概览</a:t>
            </a:r>
          </a:p>
          <a:p>
            <a:pPr>
              <a:spcAft>
                <a:spcPts val="1000"/>
              </a:spcAft>
              <a:defRPr sz="1600">
                <a:solidFill>
                  <a:srgbClr val="44546A"/>
                </a:solidFill>
              </a:defRPr>
            </a:pPr>
            <a:r>
              <a:t>标题与封面策略</a:t>
            </a:r>
          </a:p>
          <a:p>
            <a:pPr>
              <a:spcAft>
                <a:spcPts val="1000"/>
              </a:spcAft>
              <a:defRPr sz="1600">
                <a:solidFill>
                  <a:srgbClr val="44546A"/>
                </a:solidFill>
              </a:defRPr>
            </a:pPr>
            <a:r>
              <a:t>内容类型分布</a:t>
            </a:r>
          </a:p>
          <a:p>
            <a:pPr>
              <a:spcAft>
                <a:spcPts val="1000"/>
              </a:spcAft>
              <a:defRPr sz="1600">
                <a:solidFill>
                  <a:srgbClr val="44546A"/>
                </a:solidFill>
              </a:defRPr>
            </a:pPr>
            <a:r>
              <a:t>竞品优势与本品问题</a:t>
            </a:r>
          </a:p>
          <a:p>
            <a:pPr>
              <a:spcAft>
                <a:spcPts val="1000"/>
              </a:spcAft>
              <a:defRPr sz="1600">
                <a:solidFill>
                  <a:srgbClr val="44546A"/>
                </a:solidFill>
              </a:defRPr>
            </a:pPr>
            <a:r>
              <a:t>下阶段打法与行动清单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546A"/>
                </a:solidFill>
              </a:defRPr>
            </a:pPr>
            <a:r>
              <a:t>SeedScope | Local-first, screenshot-based, brand-safe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核心结论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4546A"/>
                </a:solidFill>
              </a:defRPr>
            </a:pPr>
            <a:r>
              <a:t>每页只保留一个核心判断，便于内部汇报。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4546A"/>
                </a:solidFill>
              </a:defRPr>
            </a:pPr>
            <a:r>
              <a:t>核心结论：Brand A 应优先提升决策型内容比例，而不是简单增加发布量。</a:t>
            </a:r>
          </a:p>
          <a:p>
            <a:pPr>
              <a:spcAft>
                <a:spcPts val="1000"/>
              </a:spcAft>
              <a:defRPr sz="1600">
                <a:solidFill>
                  <a:srgbClr val="44546A"/>
                </a:solidFill>
              </a:defRPr>
            </a:pPr>
            <a:r>
              <a:t>关键动作：补齐标题公式、封面证据位、正文判断标准和复投素材池。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546A"/>
                </a:solidFill>
              </a:defRPr>
            </a:pPr>
            <a:r>
              <a:t>SeedScope | Local-first, screenshot-based, brand-safe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样本概览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Brand 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Brand B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样本数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平均点赞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1070.0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1090.0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平均收藏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575.0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525.0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平均评论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84.0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84.0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546A"/>
                </a:solidFill>
              </a:defRPr>
            </a:pPr>
            <a:r>
              <a:t>SeedScope | Local-first, screenshot-based, brand-safe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标题策略对比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0287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标题类型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样本数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方法型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问题型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结果型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546A"/>
                </a:solidFill>
              </a:defRPr>
            </a:pPr>
            <a:r>
              <a:t>SeedScope | Local-first, screenshot-based, brand-safe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封面策略对比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0287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封面类型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样本数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选课避坑型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结果反差型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阶段窗口型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546A"/>
                </a:solidFill>
              </a:defRPr>
            </a:pPr>
            <a:r>
              <a:t>SeedScope | Local-first, screenshot-based, brand-safe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内容类型分布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内容类型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样本数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选课避坑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横向对比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结果反差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方法攻略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4546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546A"/>
                </a:solidFill>
              </a:defRPr>
            </a:pPr>
            <a:r>
              <a:t>SeedScope | Local-first, screenshot-based, brand-safe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竞品优势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4546A"/>
                </a:solidFill>
              </a:defRPr>
            </a:pPr>
            <a:r>
              <a:t>竞品优势通常来自更强的问题入口、方法论表达和结果证据。</a:t>
            </a:r>
          </a:p>
          <a:p>
            <a:pPr>
              <a:spcAft>
                <a:spcPts val="1000"/>
              </a:spcAft>
              <a:defRPr sz="1600">
                <a:solidFill>
                  <a:srgbClr val="44546A"/>
                </a:solidFill>
              </a:defRPr>
            </a:pPr>
            <a:r>
              <a:t>建议对标其内容结构，而不是复制单篇表达。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546A"/>
                </a:solidFill>
              </a:defRPr>
            </a:pPr>
            <a:r>
              <a:t>SeedScope | Local-first, screenshot-based, brand-safe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本品问题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4546A"/>
                </a:solidFill>
              </a:defRPr>
            </a:pPr>
            <a:r>
              <a:t>本品问题：品牌前置偏多、证据位不足、方法论段落偏弱、CTA 偏硬。</a:t>
            </a:r>
          </a:p>
          <a:p>
            <a:pPr>
              <a:spcAft>
                <a:spcPts val="1000"/>
              </a:spcAft>
              <a:defRPr sz="1600">
                <a:solidFill>
                  <a:srgbClr val="44546A"/>
                </a:solidFill>
              </a:defRPr>
            </a:pPr>
            <a:r>
              <a:t>优先级：先改内容结构，再扩大投放。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546A"/>
                </a:solidFill>
              </a:defRPr>
            </a:pPr>
            <a:r>
              <a:t>SeedScope | Local-first, screenshot-based, brand-safe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下阶段打法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4546A"/>
                </a:solidFill>
              </a:defRPr>
            </a:pPr>
            <a:r>
              <a:t>第 1-2 周：模板重建。</a:t>
            </a:r>
          </a:p>
          <a:p>
            <a:pPr>
              <a:spcAft>
                <a:spcPts val="1000"/>
              </a:spcAft>
              <a:defRPr sz="1600">
                <a:solidFill>
                  <a:srgbClr val="44546A"/>
                </a:solidFill>
              </a:defRPr>
            </a:pPr>
            <a:r>
              <a:t>第 3-4 周：小规模赛马。</a:t>
            </a:r>
          </a:p>
          <a:p>
            <a:pPr>
              <a:spcAft>
                <a:spcPts val="1000"/>
              </a:spcAft>
              <a:defRPr sz="1600">
                <a:solidFill>
                  <a:srgbClr val="44546A"/>
                </a:solidFill>
              </a:defRPr>
            </a:pPr>
            <a:r>
              <a:t>第 5-8 周：白名单复投。</a:t>
            </a:r>
          </a:p>
          <a:p>
            <a:pPr>
              <a:spcAft>
                <a:spcPts val="1000"/>
              </a:spcAft>
              <a:defRPr sz="1600">
                <a:solidFill>
                  <a:srgbClr val="44546A"/>
                </a:solidFill>
              </a:defRPr>
            </a:pPr>
            <a:r>
              <a:t>第 9-12 周：品效联动。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546A"/>
                </a:solidFill>
              </a:defRPr>
            </a:pPr>
            <a:r>
              <a:t>SeedScope | Local-first, screenshot-based, brand-safe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行动清单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4546A"/>
                </a:solidFill>
              </a:defRPr>
            </a:pPr>
            <a:r>
              <a:t>建立达人能力标签。</a:t>
            </a:r>
          </a:p>
          <a:p>
            <a:pPr>
              <a:spcAft>
                <a:spcPts val="1000"/>
              </a:spcAft>
              <a:defRPr sz="1600">
                <a:solidFill>
                  <a:srgbClr val="44546A"/>
                </a:solidFill>
              </a:defRPr>
            </a:pPr>
            <a:r>
              <a:t>输出标题公式库和封面模板库。</a:t>
            </a:r>
          </a:p>
          <a:p>
            <a:pPr>
              <a:spcAft>
                <a:spcPts val="1000"/>
              </a:spcAft>
              <a:defRPr sz="1600">
                <a:solidFill>
                  <a:srgbClr val="44546A"/>
                </a:solidFill>
              </a:defRPr>
            </a:pPr>
            <a:r>
              <a:t>固化正文 SOP。</a:t>
            </a:r>
          </a:p>
          <a:p>
            <a:pPr>
              <a:spcAft>
                <a:spcPts val="1000"/>
              </a:spcAft>
              <a:defRPr sz="1600">
                <a:solidFill>
                  <a:srgbClr val="44546A"/>
                </a:solidFill>
              </a:defRPr>
            </a:pPr>
            <a:r>
              <a:t>定义素材入池阈值。</a:t>
            </a:r>
          </a:p>
          <a:p>
            <a:pPr>
              <a:spcAft>
                <a:spcPts val="1000"/>
              </a:spcAft>
              <a:defRPr sz="1600">
                <a:solidFill>
                  <a:srgbClr val="44546A"/>
                </a:solidFill>
              </a:defRPr>
            </a:pPr>
            <a:r>
              <a:t>建立周度复盘看板。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546A"/>
                </a:solidFill>
              </a:defRPr>
            </a:pPr>
            <a:r>
              <a:t>SeedScope | Local-first, screenshot-based, brand-safe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